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30270450" cy="213836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20" y="-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uresh Jaganathan" userId="ec8008bfc2cc2dbc" providerId="LiveId" clId="{924FB26C-2D2A-4505-917A-4469F2F25046}"/>
    <pc:docChg chg="undo custSel delSld modSld">
      <pc:chgData name="Dr. Suresh Jaganathan" userId="ec8008bfc2cc2dbc" providerId="LiveId" clId="{924FB26C-2D2A-4505-917A-4469F2F25046}" dt="2026-10-10T11:50:20.410" v="37" actId="14100"/>
      <pc:docMkLst>
        <pc:docMk/>
      </pc:docMkLst>
      <pc:sldChg chg="del">
        <pc:chgData name="Dr. Suresh Jaganathan" userId="ec8008bfc2cc2dbc" providerId="LiveId" clId="{924FB26C-2D2A-4505-917A-4469F2F25046}" dt="2026-10-10T11:45:55.128" v="0" actId="47"/>
        <pc:sldMkLst>
          <pc:docMk/>
          <pc:sldMk cId="1550836097" sldId="256"/>
        </pc:sldMkLst>
      </pc:sldChg>
      <pc:sldChg chg="delSp modSp mod">
        <pc:chgData name="Dr. Suresh Jaganathan" userId="ec8008bfc2cc2dbc" providerId="LiveId" clId="{924FB26C-2D2A-4505-917A-4469F2F25046}" dt="2026-10-10T11:50:20.410" v="37" actId="14100"/>
        <pc:sldMkLst>
          <pc:docMk/>
          <pc:sldMk cId="145654216" sldId="257"/>
        </pc:sldMkLst>
        <pc:spChg chg="mod">
          <ac:chgData name="Dr. Suresh Jaganathan" userId="ec8008bfc2cc2dbc" providerId="LiveId" clId="{924FB26C-2D2A-4505-917A-4469F2F25046}" dt="2026-10-10T11:50:20.410" v="37" actId="14100"/>
          <ac:spMkLst>
            <pc:docMk/>
            <pc:sldMk cId="145654216" sldId="257"/>
            <ac:spMk id="2" creationId="{134B97AB-EAA0-4CF8-AE0D-6C54179B12FF}"/>
          </ac:spMkLst>
        </pc:spChg>
        <pc:spChg chg="del">
          <ac:chgData name="Dr. Suresh Jaganathan" userId="ec8008bfc2cc2dbc" providerId="LiveId" clId="{924FB26C-2D2A-4505-917A-4469F2F25046}" dt="2026-10-10T11:46:00.926" v="1" actId="478"/>
          <ac:spMkLst>
            <pc:docMk/>
            <pc:sldMk cId="145654216" sldId="257"/>
            <ac:spMk id="3" creationId="{5C39793F-80DF-4B0A-AEAF-354F34B514A1}"/>
          </ac:spMkLst>
        </pc:spChg>
        <pc:spChg chg="mod">
          <ac:chgData name="Dr. Suresh Jaganathan" userId="ec8008bfc2cc2dbc" providerId="LiveId" clId="{924FB26C-2D2A-4505-917A-4469F2F25046}" dt="2026-10-10T11:46:17.734" v="5" actId="122"/>
          <ac:spMkLst>
            <pc:docMk/>
            <pc:sldMk cId="145654216" sldId="257"/>
            <ac:spMk id="4" creationId="{F84BE3C1-6532-4064-8A34-AD48A213199C}"/>
          </ac:spMkLst>
        </pc:spChg>
        <pc:spChg chg="mod">
          <ac:chgData name="Dr. Suresh Jaganathan" userId="ec8008bfc2cc2dbc" providerId="LiveId" clId="{924FB26C-2D2A-4505-917A-4469F2F25046}" dt="2026-10-10T11:46:20.748" v="6" actId="122"/>
          <ac:spMkLst>
            <pc:docMk/>
            <pc:sldMk cId="145654216" sldId="257"/>
            <ac:spMk id="5" creationId="{8426F9BF-2F9C-41CC-9001-4E47FE1DB6F1}"/>
          </ac:spMkLst>
        </pc:spChg>
        <pc:spChg chg="mod">
          <ac:chgData name="Dr. Suresh Jaganathan" userId="ec8008bfc2cc2dbc" providerId="LiveId" clId="{924FB26C-2D2A-4505-917A-4469F2F25046}" dt="2026-10-10T11:46:23.093" v="7" actId="122"/>
          <ac:spMkLst>
            <pc:docMk/>
            <pc:sldMk cId="145654216" sldId="257"/>
            <ac:spMk id="6" creationId="{6BEE576D-3470-490F-885A-1EADA154C392}"/>
          </ac:spMkLst>
        </pc:spChg>
        <pc:spChg chg="mod">
          <ac:chgData name="Dr. Suresh Jaganathan" userId="ec8008bfc2cc2dbc" providerId="LiveId" clId="{924FB26C-2D2A-4505-917A-4469F2F25046}" dt="2026-10-10T11:47:51.276" v="26" actId="1076"/>
          <ac:spMkLst>
            <pc:docMk/>
            <pc:sldMk cId="145654216" sldId="257"/>
            <ac:spMk id="10" creationId="{C709682E-49D1-4DAB-9C3E-88B3479F0B02}"/>
          </ac:spMkLst>
        </pc:spChg>
        <pc:spChg chg="mod">
          <ac:chgData name="Dr. Suresh Jaganathan" userId="ec8008bfc2cc2dbc" providerId="LiveId" clId="{924FB26C-2D2A-4505-917A-4469F2F25046}" dt="2026-10-10T11:47:34.775" v="22" actId="14100"/>
          <ac:spMkLst>
            <pc:docMk/>
            <pc:sldMk cId="145654216" sldId="257"/>
            <ac:spMk id="14" creationId="{6931E5D3-CCF5-403D-B84E-EDA393E72F73}"/>
          </ac:spMkLst>
        </pc:spChg>
        <pc:spChg chg="mod">
          <ac:chgData name="Dr. Suresh Jaganathan" userId="ec8008bfc2cc2dbc" providerId="LiveId" clId="{924FB26C-2D2A-4505-917A-4469F2F25046}" dt="2026-10-10T11:47:53.500" v="27" actId="1076"/>
          <ac:spMkLst>
            <pc:docMk/>
            <pc:sldMk cId="145654216" sldId="257"/>
            <ac:spMk id="15" creationId="{13492EBB-FB81-4A77-98EF-2CB2DA01FEC1}"/>
          </ac:spMkLst>
        </pc:spChg>
        <pc:spChg chg="mod">
          <ac:chgData name="Dr. Suresh Jaganathan" userId="ec8008bfc2cc2dbc" providerId="LiveId" clId="{924FB26C-2D2A-4505-917A-4469F2F25046}" dt="2026-10-10T11:49:45.559" v="34" actId="14100"/>
          <ac:spMkLst>
            <pc:docMk/>
            <pc:sldMk cId="145654216" sldId="257"/>
            <ac:spMk id="17" creationId="{BA0C4176-29A0-40AD-89BA-A05B9C0CEEF0}"/>
          </ac:spMkLst>
        </pc:spChg>
        <pc:spChg chg="mod">
          <ac:chgData name="Dr. Suresh Jaganathan" userId="ec8008bfc2cc2dbc" providerId="LiveId" clId="{924FB26C-2D2A-4505-917A-4469F2F25046}" dt="2026-10-10T11:48:49.883" v="33" actId="1076"/>
          <ac:spMkLst>
            <pc:docMk/>
            <pc:sldMk cId="145654216" sldId="257"/>
            <ac:spMk id="22" creationId="{72FEF28A-94D2-421C-A1D0-8DAB170FC3C8}"/>
          </ac:spMkLst>
        </pc:spChg>
        <pc:spChg chg="mod">
          <ac:chgData name="Dr. Suresh Jaganathan" userId="ec8008bfc2cc2dbc" providerId="LiveId" clId="{924FB26C-2D2A-4505-917A-4469F2F25046}" dt="2026-10-10T11:48:44.307" v="32" actId="1076"/>
          <ac:spMkLst>
            <pc:docMk/>
            <pc:sldMk cId="145654216" sldId="257"/>
            <ac:spMk id="24" creationId="{DA2FEC55-E2BE-4A31-AF36-13C6B111FAB4}"/>
          </ac:spMkLst>
        </pc:spChg>
        <pc:spChg chg="mod">
          <ac:chgData name="Dr. Suresh Jaganathan" userId="ec8008bfc2cc2dbc" providerId="LiveId" clId="{924FB26C-2D2A-4505-917A-4469F2F25046}" dt="2026-10-10T11:46:44.242" v="15" actId="403"/>
          <ac:spMkLst>
            <pc:docMk/>
            <pc:sldMk cId="145654216" sldId="257"/>
            <ac:spMk id="32" creationId="{E89A2640-B5DB-48AA-A002-059B5158C160}"/>
          </ac:spMkLst>
        </pc:spChg>
        <pc:spChg chg="mod">
          <ac:chgData name="Dr. Suresh Jaganathan" userId="ec8008bfc2cc2dbc" providerId="LiveId" clId="{924FB26C-2D2A-4505-917A-4469F2F25046}" dt="2026-10-10T11:47:27.853" v="21" actId="14100"/>
          <ac:spMkLst>
            <pc:docMk/>
            <pc:sldMk cId="145654216" sldId="257"/>
            <ac:spMk id="37" creationId="{B825398C-3094-6C2E-F51B-7E7DE07004CA}"/>
          </ac:spMkLst>
        </pc:spChg>
        <pc:spChg chg="mod">
          <ac:chgData name="Dr. Suresh Jaganathan" userId="ec8008bfc2cc2dbc" providerId="LiveId" clId="{924FB26C-2D2A-4505-917A-4469F2F25046}" dt="2026-10-10T11:47:40.433" v="25" actId="20577"/>
          <ac:spMkLst>
            <pc:docMk/>
            <pc:sldMk cId="145654216" sldId="257"/>
            <ac:spMk id="38" creationId="{68D29E1E-0E39-FF0F-E884-F97E918FB502}"/>
          </ac:spMkLst>
        </pc:spChg>
        <pc:picChg chg="mod">
          <ac:chgData name="Dr. Suresh Jaganathan" userId="ec8008bfc2cc2dbc" providerId="LiveId" clId="{924FB26C-2D2A-4505-917A-4469F2F25046}" dt="2026-10-10T11:46:51.294" v="17" actId="1076"/>
          <ac:picMkLst>
            <pc:docMk/>
            <pc:sldMk cId="145654216" sldId="257"/>
            <ac:picMk id="34" creationId="{0EF0BD8F-825E-A2C0-2525-FD1B64C0E6D0}"/>
          </ac:picMkLst>
        </pc:picChg>
        <pc:cxnChg chg="mod">
          <ac:chgData name="Dr. Suresh Jaganathan" userId="ec8008bfc2cc2dbc" providerId="LiveId" clId="{924FB26C-2D2A-4505-917A-4469F2F25046}" dt="2026-10-10T11:47:07.628" v="19" actId="14100"/>
          <ac:cxnSpMkLst>
            <pc:docMk/>
            <pc:sldMk cId="145654216" sldId="257"/>
            <ac:cxnSpMk id="36" creationId="{E2410E94-B0D4-BEC6-A47D-1F1B0E9BD3D9}"/>
          </ac:cxnSpMkLst>
        </pc:cxn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5354B"/>
                </a:solidFill>
                <a:latin typeface="Arial"/>
              </a:rPr>
              <a:t>Balanced accuracy, six stages (test set used once)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Cross-validation</c:v>
                </c:pt>
              </c:strCache>
            </c:strRef>
          </c:tx>
          <c:spPr>
            <a:solidFill>
              <a:srgbClr val="087F8C"/>
            </a:solidFill>
          </c:spPr>
          <c:cat>
            <c:strRef>
              <c:f>Sheet1!$A$2:$A$8</c:f>
              <c:strCache>
                <c:ptCount val="7"/>
                <c:pt idx="0">
                  <c:v>Majority (chance)</c:v>
                </c:pt>
                <c:pt idx="1">
                  <c:v>No reduction</c:v>
                </c:pt>
                <c:pt idx="2">
                  <c:v>QUBO + QAOA</c:v>
                </c:pt>
                <c:pt idx="3">
                  <c:v>L1 logistic</c:v>
                </c:pt>
                <c:pt idx="4">
                  <c:v>PCA</c:v>
                </c:pt>
                <c:pt idx="5">
                  <c:v>MLP (DC_z)</c:v>
                </c:pt>
                <c:pt idx="6">
                  <c:v>Transformer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0.167</c:v>
                </c:pt>
                <c:pt idx="1">
                  <c:v>0.176</c:v>
                </c:pt>
                <c:pt idx="2">
                  <c:v>0.2</c:v>
                </c:pt>
                <c:pt idx="3">
                  <c:v>0.239</c:v>
                </c:pt>
                <c:pt idx="4">
                  <c:v>0.253</c:v>
                </c:pt>
                <c:pt idx="5">
                  <c:v>0.307</c:v>
                </c:pt>
                <c:pt idx="6">
                  <c:v>0.311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Held-out test (35 subjects)</c:v>
                </c:pt>
              </c:strCache>
            </c:strRef>
          </c:tx>
          <c:spPr>
            <a:solidFill>
              <a:srgbClr val="15354B"/>
            </a:solidFill>
          </c:spPr>
          <c:cat>
            <c:strRef>
              <c:f>Sheet1!$A$2:$A$8</c:f>
              <c:strCache>
                <c:ptCount val="7"/>
                <c:pt idx="0">
                  <c:v>Majority (chance)</c:v>
                </c:pt>
                <c:pt idx="1">
                  <c:v>No reduction</c:v>
                </c:pt>
                <c:pt idx="2">
                  <c:v>QUBO + QAOA</c:v>
                </c:pt>
                <c:pt idx="3">
                  <c:v>L1 logistic</c:v>
                </c:pt>
                <c:pt idx="4">
                  <c:v>PCA</c:v>
                </c:pt>
                <c:pt idx="5">
                  <c:v>MLP (DC_z)</c:v>
                </c:pt>
                <c:pt idx="6">
                  <c:v>Transformer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2">
                  <c:v>0.233</c:v>
                </c:pt>
                <c:pt idx="3">
                  <c:v>0.228</c:v>
                </c:pt>
                <c:pt idx="4">
                  <c:v>0.172</c:v>
                </c:pt>
                <c:pt idx="5">
                  <c:v>0.2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>
                  <a:solidFill>
                    <a:srgbClr val="15354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FDCE3"/>
            </a:solidFill>
          </a:ln>
        </c:spPr>
        <c:txPr>
          <a:bodyPr/>
          <a:lstStyle/>
          <a:p>
            <a:pPr>
              <a:defRPr sz="1400">
                <a:solidFill>
                  <a:srgbClr val="15354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"/>
          <c:min val="0.0"/>
        </c:scaling>
        <c:delete val="0"/>
        <c:axPos val="l"/>
        <c:majorGridlines>
          <c:spPr>
            <a:ln>
              <a:solidFill>
                <a:srgbClr val="CFDCE3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506575"/>
                </a:solidFill>
                <a:latin typeface="Arial"/>
              </a:defRPr>
            </a:pPr>
          </a:p>
        </c:txPr>
        <c:crossAx val="-2068027336"/>
        <c:crosses val="autoZero"/>
        <c:majorUnit val="0.1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506575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- Cohort: 116 subjects, one scan each; MCI has 16 because only 16 MCI subjects have valid data (not padded with repeat visits).</a:t>
            </a:r>
          </a:p>
          <a:p>
            <a:r>
              <a:t>- 8 acquisitions were refused at preprocessing: TR 6.02 s puts Nyquist at 0.083 Hz, below the 0.10 Hz band-pass cutoff.</a:t>
            </a:r>
          </a:p>
          <a:p>
            <a:r>
              <a:t>- FC_Strength was removed: it equals DC/245 exactly (max difference 6.9e-18).</a:t>
            </a:r>
          </a:p>
          <a:p>
            <a:r>
              <a:t>- MMSE and CDR are not used as features: they feed the ADNI criteria that assign the stage (circular).</a:t>
            </a:r>
          </a:p>
          <a:p>
            <a:r>
              <a:t>- Feature selection study: 26 methods, 285 configurations; best CV = PCA 738-&gt;10 at 0.253; test 0.172 (PCA), 0.228 (L1), 0.233 (QUBO+QAOA), all within chance range for n=35.</a:t>
            </a:r>
          </a:p>
          <a:p>
            <a:r>
              <a:t>- Quantum QUBO+QAOA ran on a simulator (qiskit, 20 qubits) and gave no advantage over random subsets of the same candidates.</a:t>
            </a:r>
          </a:p>
          <a:p>
            <a:r>
              <a:t>- MLP on DC_z held-out balanced accuracy 0.200; its CV score (0.307) did not carry over.</a:t>
            </a:r>
          </a:p>
          <a:p>
            <a:r>
              <a:t>- Chart protocol: transformer = 5-fold CV; others = 5 seeds x 5 folds. Feature counts: no reduction 738, QUBO+QAOA 8, L1 10, PCA 10 components.</a:t>
            </a:r>
          </a:p>
          <a:p>
            <a:r>
              <a:t>- P-score figure: poster-sized redraw (scripts/audit/pscore_poster_panel.py blue) of the four-panel variant, RdBu_r with a per-panel scale (blue = P 0, pale = panel median, red = 99th percentile), so panels are NOT comparable; the yellow fixed-scale version is pscore_poster_panel.png; max P-score 0.928 (mReHo) vs threshold 1.301. 0 of 5,904 ROI-stage tests reach q &lt; 0.05.</a:t>
            </a:r>
          </a:p>
          <a:p>
            <a:r>
              <a:t>- No test reaches q &lt; 0.05. Smallest adjusted q by family: stage-level one-vs-rest 0.139 (mReHo, EMCI; 24 tests); ROI x stage 0.118 (mReHo; 1,476 tests per biomarker); pairwise ROI 0.067 (mALFF). Note 0.139 is the smallest only within the stage-level family.</a:t>
            </a:r>
          </a:p>
          <a:p>
            <a:r>
              <a:t>- Related-work table lists the foundational method papers cited in the project report; replace with AD-staging literature if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5219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2F826D9-3ED3-4ECA-9A68-9A93C5F2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045" y="8078258"/>
            <a:ext cx="24216360" cy="3088746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7786D3D-EAC0-4559-A205-F091E9692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0568" y="11760994"/>
            <a:ext cx="21189315" cy="237595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0D23FFE-B32F-46B0-9F74-4AED26BE8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045" y="8909844"/>
            <a:ext cx="24216360" cy="356393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4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63F40F8-5937-4F78-B190-85337946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713" y="1663171"/>
            <a:ext cx="26865024" cy="26135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29C7129-A9B9-4E7E-90A2-23434D257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2713" y="5939896"/>
            <a:ext cx="26865024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91E6C8B-B81F-4693-9984-9640B835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713" y="1663171"/>
            <a:ext cx="26865024" cy="26135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5683F3A-81C5-43FE-A0E3-544541792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2713" y="5939896"/>
            <a:ext cx="12486561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677A5B2-8C77-4BCB-93C6-32232E34CFC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081177" y="5939896"/>
            <a:ext cx="12486561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68C1F1A-566D-48A6-AB6C-1531BF10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713" y="1663171"/>
            <a:ext cx="26865024" cy="26135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A82C079-3AE7-4C2B-B0D3-03D6EDB8C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2713" y="5939896"/>
            <a:ext cx="12486561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89A2640-B5DB-48AA-A002-059B5158C160}"/>
              </a:ext>
            </a:extLst>
          </p:cNvPr>
          <p:cNvSpPr>
            <a:spLocks noGrp="1"/>
          </p:cNvSpPr>
          <p:nvPr/>
        </p:nvSpPr>
        <p:spPr>
          <a:xfrm>
            <a:off x="2857500" y="174457"/>
            <a:ext cx="24574500" cy="892343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30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Sri Sivasubramaniya Nadar College of Engineering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4B97AB-EAA0-4CF8-AE0D-6C54179B12FF}"/>
              </a:ext>
            </a:extLst>
          </p:cNvPr>
          <p:cNvSpPr>
            <a:spLocks noGrp="1"/>
          </p:cNvSpPr>
          <p:nvPr/>
        </p:nvSpPr>
        <p:spPr>
          <a:xfrm>
            <a:off x="2857500" y="1042236"/>
            <a:ext cx="24574500" cy="578268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3600" b="0" dirty="0">
                <a:solidFill>
                  <a:srgbClr val="506575"/>
                </a:solidFill>
                <a:latin typeface="Arial"/>
                <a:ea typeface="Arial"/>
                <a:cs typeface="Arial"/>
              </a:rPr>
              <a:t>Department of Computer Science and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4BE3C1-6532-4064-8A34-AD48A213199C}"/>
              </a:ext>
            </a:extLst>
          </p:cNvPr>
          <p:cNvSpPr>
            <a:spLocks noGrp="1"/>
          </p:cNvSpPr>
          <p:nvPr/>
        </p:nvSpPr>
        <p:spPr>
          <a:xfrm>
            <a:off x="619125" y="1700784"/>
            <a:ext cx="29032200" cy="132588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>
            <a:defPPr>
              <a:defRPr sz="585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0"/>
              </a:spcAft>
              <a:defRPr sz="585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15354B"/>
                </a:solidFill>
                <a:latin typeface="Arial"/>
              </a:rPr>
              <a:t>Assessment of Alzheimer's Disease Progression Using a Comorbidity-Aware</a:t>
            </a:r>
            <a:br/>
            <a:r>
              <a:rPr sz="4000" b="1">
                <a:solidFill>
                  <a:srgbClr val="15354B"/>
                </a:solidFill>
                <a:latin typeface="Arial"/>
              </a:rPr>
              <a:t>Meta-Bayesian Framework with Resting-State fMRI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26F9BF-2F9C-41CC-9001-4E47FE1DB6F1}"/>
              </a:ext>
            </a:extLst>
          </p:cNvPr>
          <p:cNvSpPr>
            <a:spLocks noGrp="1"/>
          </p:cNvSpPr>
          <p:nvPr/>
        </p:nvSpPr>
        <p:spPr>
          <a:xfrm>
            <a:off x="619125" y="3017520"/>
            <a:ext cx="29032200" cy="4572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>
            <a:defPPr>
              <a:defRPr sz="2475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0"/>
              </a:spcAft>
              <a:defRPr sz="2475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354B"/>
                </a:solidFill>
                <a:latin typeface="Arial"/>
              </a:rPr>
              <a:t>Harishkanna R (3122235001302)     Dhananchezhiyan M (3122235001041)     Nagindhar Sachein R L (3122235001702)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EE576D-3470-490F-885A-1EADA154C392}"/>
              </a:ext>
            </a:extLst>
          </p:cNvPr>
          <p:cNvSpPr>
            <a:spLocks noGrp="1"/>
          </p:cNvSpPr>
          <p:nvPr/>
        </p:nvSpPr>
        <p:spPr>
          <a:xfrm>
            <a:off x="619125" y="3456432"/>
            <a:ext cx="29032200" cy="4572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>
            <a:defPPr>
              <a:defRPr sz="24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0"/>
              </a:spcAft>
              <a:defRPr sz="24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506575"/>
                </a:solidFill>
                <a:latin typeface="Arial"/>
              </a:rPr>
              <a:t>Guide: Dr. N. Ahana Priyanka, Assistant Professor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09682E-49D1-4DAB-9C3E-88B3479F0B02}"/>
              </a:ext>
            </a:extLst>
          </p:cNvPr>
          <p:cNvSpPr>
            <a:spLocks noGrp="1"/>
          </p:cNvSpPr>
          <p:nvPr/>
        </p:nvSpPr>
        <p:spPr>
          <a:xfrm>
            <a:off x="562977" y="4330991"/>
            <a:ext cx="839353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Problem </a:t>
            </a:r>
            <a:r>
              <a:rPr lang="en-US"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Statement &amp; Objectives </a:t>
            </a:r>
            <a:endParaRPr sz="330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CF8B3E-6614-4FCE-8177-49E1ABD94E2E}"/>
              </a:ext>
            </a:extLst>
          </p:cNvPr>
          <p:cNvSpPr>
            <a:spLocks noGrp="1"/>
          </p:cNvSpPr>
          <p:nvPr/>
        </p:nvSpPr>
        <p:spPr>
          <a:xfrm>
            <a:off x="619125" y="5029200"/>
            <a:ext cx="8393530" cy="466344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300"/>
              </a:spcAft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8C"/>
                </a:solidFill>
                <a:latin typeface="Arial"/>
              </a:rPr>
              <a:t>Problem Statement</a:t>
            </a:r>
            <a:endParaRPr lang="en-US"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pPr>
              <a:spcAft>
                <a:spcPts val="300"/>
              </a:spcAft>
            </a:pPr>
            <a:r>
              <a:rPr sz="2550" b="0">
                <a:solidFill>
                  <a:srgbClr val="15354B"/>
                </a:solidFill>
                <a:latin typeface="Arial"/>
              </a:rPr>
              <a:t>Resting-state fMRI biomarkers are analysed in isolation, without clinical context, and stage is predicted as unordered, overconfident labels.</a:t>
            </a:r>
          </a:p>
          <a:p>
            <a:pPr>
              <a:spcAft>
                <a:spcPts val="300"/>
              </a:spcAft>
            </a:pPr>
            <a:r>
              <a:rPr sz="2550" b="0">
                <a:solidFill>
                  <a:srgbClr val="15354B"/>
                </a:solidFill>
                <a:latin typeface="Arial"/>
              </a:rPr>
              <a:t/>
            </a:r>
          </a:p>
          <a:p>
            <a:pPr>
              <a:spcAft>
                <a:spcPts val="300"/>
              </a:spcAft>
            </a:pPr>
            <a:r>
              <a:rPr sz="2550" b="1">
                <a:solidFill>
                  <a:srgbClr val="087F8C"/>
                </a:solidFill>
                <a:latin typeface="Arial"/>
              </a:rPr>
              <a:t>Objectives</a:t>
            </a:r>
          </a:p>
          <a:p>
            <a:pPr>
              <a:spcAft>
                <a:spcPts val="300"/>
              </a:spcAft>
            </a:pPr>
            <a:r>
              <a:rPr sz="2550" b="0">
                <a:solidFill>
                  <a:srgbClr val="15354B"/>
                </a:solidFill>
                <a:latin typeface="Arial"/>
              </a:rPr>
              <a:t>1. Build an auditable rs-fMRI pipeline: ALFF, ReHo, DC and FC</a:t>
            </a:r>
          </a:p>
          <a:p>
            <a:pPr>
              <a:spcAft>
                <a:spcPts val="300"/>
              </a:spcAft>
            </a:pPr>
            <a:r>
              <a:rPr sz="2550" b="0">
                <a:solidFill>
                  <a:srgbClr val="15354B"/>
                </a:solidFill>
                <a:latin typeface="Arial"/>
              </a:rPr>
              <a:t>2. Assemble a leakage-free 116-subject cohort and test for stage structure</a:t>
            </a:r>
          </a:p>
          <a:p>
            <a:pPr>
              <a:spcAft>
                <a:spcPts val="300"/>
              </a:spcAft>
            </a:pPr>
            <a:r>
              <a:rPr sz="2550" b="0">
                <a:solidFill>
                  <a:srgbClr val="15354B"/>
                </a:solidFill>
                <a:latin typeface="Arial"/>
              </a:rPr>
              <a:t>3. Predict six ordered stages with comorbidity and uncertainty (proposed)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45C2B-38B5-4B73-945F-5B1E00D6EB36}"/>
              </a:ext>
            </a:extLst>
          </p:cNvPr>
          <p:cNvSpPr>
            <a:spLocks noGrp="1"/>
          </p:cNvSpPr>
          <p:nvPr/>
        </p:nvSpPr>
        <p:spPr>
          <a:xfrm>
            <a:off x="378493" y="10287000"/>
            <a:ext cx="8634162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Related work and research gap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05B4583-2FFE-4AF7-AD90-72D7E5C9B6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2153965"/>
              </p:ext>
            </p:extLst>
          </p:nvPr>
        </p:nvGraphicFramePr>
        <p:xfrm>
          <a:off x="506830" y="11018520"/>
          <a:ext cx="8503920" cy="452628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Author/Year</a:t>
                      </a:r>
                    </a:p>
                  </a:txBody>
                  <a:tcPr marL="73152" marR="73152" marT="45720" marB="45720" anchor="ctr">
                    <a:solidFill>
                      <a:srgbClr val="15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3152" marR="73152" marT="45720" marB="45720" anchor="ctr">
                    <a:solidFill>
                      <a:srgbClr val="15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Key Findings</a:t>
                      </a:r>
                    </a:p>
                  </a:txBody>
                  <a:tcPr marL="73152" marR="73152" marT="45720" marB="45720" anchor="ctr">
                    <a:solidFill>
                      <a:srgbClr val="15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Limitations</a:t>
                      </a:r>
                    </a:p>
                  </a:txBody>
                  <a:tcPr marL="73152" marR="73152" marT="45720" marB="45720" anchor="ctr">
                    <a:solidFill>
                      <a:srgbClr val="15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Zang 2004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ReHo (Kendall's W)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Local synchrony of BOLD signals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Single biomarker, no staging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Zou 2008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fALFF power ratio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Suppresses non-specific signal vs ALFF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Single biomarker, no staging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Zuo 2012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Degree centrality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Hub regions of the connectome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Group maps, no staging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Fan 2016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Brainnetome atlas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246 regions: 210 cortical, 36 subcortical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Atlas only, no prediction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Vaswani 2017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Self-attention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Models long-range interactions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5354B"/>
                          </a:solidFill>
                          <a:latin typeface="Arial"/>
                          <a:ea typeface="Arial"/>
                          <a:cs typeface="Arial"/>
                        </a:rPr>
                        <a:t>Needs large datasets</a:t>
                      </a:r>
                    </a:p>
                  </a:txBody>
                  <a:tcPr marL="73152" marR="73152" marT="45720" marB="4572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6931E5D3-CCF5-403D-B84E-EDA393E72F73}"/>
              </a:ext>
            </a:extLst>
          </p:cNvPr>
          <p:cNvSpPr>
            <a:spLocks noGrp="1"/>
          </p:cNvSpPr>
          <p:nvPr/>
        </p:nvSpPr>
        <p:spPr>
          <a:xfrm>
            <a:off x="378493" y="16276320"/>
            <a:ext cx="8634162" cy="402336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300"/>
              </a:spcAft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8C"/>
                </a:solidFill>
                <a:latin typeface="Arial"/>
              </a:rPr>
              <a:t>Research gap</a:t>
            </a:r>
            <a:endParaRPr lang="en-US"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pPr>
              <a:spcAft>
                <a:spcPts val="300"/>
              </a:spcAft>
            </a:pPr>
            <a:r>
              <a:rPr sz="2550" b="0">
                <a:solidFill>
                  <a:srgbClr val="15354B"/>
                </a:solidFill>
                <a:latin typeface="Arial"/>
              </a:rPr>
              <a:t>Biomarker methods are validated one at a time; none addresses ordered six-stage staging with clinical context and calibrated uncertainty. This work builds one verified pipeline for four biomarkers, measures how much they overlap, and tests leak-free whether they separate the stages.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492EBB-FB81-4A77-98EF-2CB2DA01FEC1}"/>
              </a:ext>
            </a:extLst>
          </p:cNvPr>
          <p:cNvSpPr>
            <a:spLocks noGrp="1"/>
          </p:cNvSpPr>
          <p:nvPr/>
        </p:nvSpPr>
        <p:spPr>
          <a:xfrm>
            <a:off x="9256295" y="4330991"/>
            <a:ext cx="1063190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0C4176-29A0-40AD-89BA-A05B9C0CEEF0}"/>
              </a:ext>
            </a:extLst>
          </p:cNvPr>
          <p:cNvSpPr>
            <a:spLocks noGrp="1"/>
          </p:cNvSpPr>
          <p:nvPr/>
        </p:nvSpPr>
        <p:spPr>
          <a:xfrm>
            <a:off x="9269830" y="5063538"/>
            <a:ext cx="10618370" cy="8412832"/>
          </a:xfrm>
          <a:prstGeom prst="rect">
            <a:avLst/>
          </a:prstGeom>
          <a:solidFill>
            <a:srgbClr val="F5F8FA"/>
          </a:solidFill>
          <a:ln w="19050">
            <a:solidFill>
              <a:srgbClr val="CFDCE3"/>
            </a:solidFill>
          </a:ln>
        </p:spPr>
        <p:txBody>
          <a:bodyPr wrap="square"/>
          <a:lstStyle>
            <a:defPPr>
              <a:defRPr sz="240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0"/>
              </a:spcAft>
              <a:defRPr sz="240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354B"/>
                </a:solidFill>
                <a:latin typeface="Arial"/>
              </a:rPr>
              <a:t/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A233BF-2C9A-4304-A813-E05EC8CAE992}"/>
              </a:ext>
            </a:extLst>
          </p:cNvPr>
          <p:cNvSpPr>
            <a:spLocks noGrp="1"/>
          </p:cNvSpPr>
          <p:nvPr/>
        </p:nvSpPr>
        <p:spPr>
          <a:xfrm>
            <a:off x="9269830" y="14001750"/>
            <a:ext cx="1061837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Functional Modules and Dataset Description</a:t>
            </a:r>
            <a:endParaRPr sz="330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7AA02-E748-43E1-B136-4C980B680767}"/>
              </a:ext>
            </a:extLst>
          </p:cNvPr>
          <p:cNvSpPr>
            <a:spLocks noGrp="1"/>
          </p:cNvSpPr>
          <p:nvPr/>
        </p:nvSpPr>
        <p:spPr>
          <a:xfrm>
            <a:off x="9269830" y="14767559"/>
            <a:ext cx="10618370" cy="22860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200"/>
              </a:spcAft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8C"/>
                </a:solidFill>
                <a:latin typeface="Arial"/>
              </a:rPr>
              <a:t>Modules</a:t>
            </a:r>
          </a:p>
          <a:p>
            <a:pPr>
              <a:spcAft>
                <a:spcPts val="200"/>
              </a:spcAft>
            </a:pPr>
            <a:r>
              <a:rPr sz="2550" b="0">
                <a:solidFill>
                  <a:srgbClr val="15354B"/>
                </a:solidFill>
                <a:latin typeface="Arial"/>
              </a:rPr>
              <a:t>M1  Audit, BIDS conversion and preprocessing</a:t>
            </a:r>
          </a:p>
          <a:p>
            <a:pPr>
              <a:spcAft>
                <a:spcPts val="200"/>
              </a:spcAft>
            </a:pPr>
            <a:r>
              <a:rPr sz="2550" b="0">
                <a:solidFill>
                  <a:srgbClr val="15354B"/>
                </a:solidFill>
                <a:latin typeface="Arial"/>
              </a:rPr>
              <a:t>M2  Brainnetome-246 biomarkers (mALFF, mReHo, DC_z, FC)</a:t>
            </a:r>
          </a:p>
          <a:p>
            <a:pPr>
              <a:spcAft>
                <a:spcPts val="200"/>
              </a:spcAft>
            </a:pPr>
            <a:r>
              <a:rPr sz="2550" b="0">
                <a:solidFill>
                  <a:srgbClr val="15354B"/>
                </a:solidFill>
                <a:latin typeface="Arial"/>
              </a:rPr>
              <a:t>M3  Cohort selection, statistics, feature reduction</a:t>
            </a:r>
          </a:p>
          <a:p>
            <a:pPr>
              <a:spcAft>
                <a:spcPts val="200"/>
              </a:spcAft>
            </a:pPr>
            <a:r>
              <a:rPr sz="2550" b="0">
                <a:solidFill>
                  <a:srgbClr val="15354B"/>
                </a:solidFill>
                <a:latin typeface="Arial"/>
              </a:rPr>
              <a:t>M4  Transformer staging (fusion, MAML: proposed)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FEF28A-94D2-421C-A1D0-8DAB170FC3C8}"/>
              </a:ext>
            </a:extLst>
          </p:cNvPr>
          <p:cNvSpPr>
            <a:spLocks noGrp="1"/>
          </p:cNvSpPr>
          <p:nvPr/>
        </p:nvSpPr>
        <p:spPr>
          <a:xfrm>
            <a:off x="20067172" y="4267951"/>
            <a:ext cx="95059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Results and </a:t>
            </a:r>
            <a:r>
              <a:rPr lang="en-US"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Analysis</a:t>
            </a:r>
            <a:endParaRPr sz="330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2FEC55-E2BE-4A31-AF36-13C6B111FAB4}"/>
              </a:ext>
            </a:extLst>
          </p:cNvPr>
          <p:cNvSpPr>
            <a:spLocks noGrp="1"/>
          </p:cNvSpPr>
          <p:nvPr/>
        </p:nvSpPr>
        <p:spPr>
          <a:xfrm>
            <a:off x="20067172" y="5060782"/>
            <a:ext cx="9505950" cy="8415588"/>
          </a:xfrm>
          <a:prstGeom prst="rect">
            <a:avLst/>
          </a:prstGeom>
          <a:solidFill>
            <a:srgbClr val="F5F8FA"/>
          </a:solidFill>
          <a:ln w="19050">
            <a:solidFill>
              <a:srgbClr val="CFDCE3"/>
            </a:solidFill>
          </a:ln>
        </p:spPr>
        <p:txBody>
          <a:bodyPr wrap="square"/>
          <a:lstStyle>
            <a:defPPr>
              <a:defRPr sz="240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0"/>
              </a:spcAft>
              <a:defRPr sz="240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354B"/>
                </a:solidFill>
                <a:latin typeface="Arial"/>
              </a:rPr>
              <a:t/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8F8393-2FDB-437D-9D78-676ADC7F9BDF}"/>
              </a:ext>
            </a:extLst>
          </p:cNvPr>
          <p:cNvSpPr>
            <a:spLocks noGrp="1"/>
          </p:cNvSpPr>
          <p:nvPr/>
        </p:nvSpPr>
        <p:spPr>
          <a:xfrm>
            <a:off x="20131840" y="13984705"/>
            <a:ext cx="95059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Conclusion and future work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56CA06-E2B0-4F64-A1B6-FF31FFC63B23}"/>
              </a:ext>
            </a:extLst>
          </p:cNvPr>
          <p:cNvSpPr>
            <a:spLocks noGrp="1"/>
          </p:cNvSpPr>
          <p:nvPr/>
        </p:nvSpPr>
        <p:spPr>
          <a:xfrm>
            <a:off x="20131840" y="14813280"/>
            <a:ext cx="9505950" cy="539496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0"/>
              </a:spcAft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8C"/>
                </a:solidFill>
                <a:latin typeface="Arial"/>
              </a:rPr>
              <a:t>Conclusion: </a:t>
            </a:r>
            <a:r>
              <a:rPr sz="2550" b="0">
                <a:solidFill>
                  <a:srgbClr val="15354B"/>
                </a:solidFill>
                <a:latin typeface="Arial"/>
              </a:rPr>
              <a:t>The pipeline is complete and auditable, but the features do not separate the six stages after correction. Nothing reaches q &lt; 0.05 and held-out accuracy is at chance level.</a:t>
            </a:r>
          </a:p>
          <a:p>
            <a:pPr>
              <a:spcAft>
                <a:spcPts val="0"/>
              </a:spcAft>
            </a:pPr>
            <a:r>
              <a:rPr sz="2550" b="0">
                <a:solidFill>
                  <a:srgbClr val="15354B"/>
                </a:solidFill>
                <a:latin typeface="Arial"/>
              </a:rPr>
              <a:t/>
            </a:r>
          </a:p>
          <a:p>
            <a:pPr>
              <a:spcAft>
                <a:spcPts val="0"/>
              </a:spcAft>
            </a:pPr>
            <a:r>
              <a:rPr sz="2550" b="1">
                <a:solidFill>
                  <a:srgbClr val="087F8C"/>
                </a:solidFill>
                <a:latin typeface="Arial"/>
              </a:rPr>
              <a:t>Contribution: </a:t>
            </a:r>
            <a:r>
              <a:rPr sz="2550" b="0">
                <a:solidFill>
                  <a:srgbClr val="15354B"/>
                </a:solidFill>
                <a:latin typeface="Arial"/>
              </a:rPr>
              <a:t>A verified DICOM-to-features pipeline, a proven FC_Strength redundancy (= DC/245), 5.7–11.3% shared variance between biomarkers, and a leak-free benchmark of 26 feature-reduction methods including quantum QUBO.</a:t>
            </a:r>
          </a:p>
          <a:p>
            <a:pPr>
              <a:spcAft>
                <a:spcPts val="0"/>
              </a:spcAft>
            </a:pPr>
            <a:r>
              <a:rPr sz="2550" b="0">
                <a:solidFill>
                  <a:srgbClr val="15354B"/>
                </a:solidFill>
                <a:latin typeface="Arial"/>
              </a:rPr>
              <a:t/>
            </a:r>
          </a:p>
          <a:p>
            <a:pPr>
              <a:spcAft>
                <a:spcPts val="0"/>
              </a:spcAft>
            </a:pPr>
            <a:r>
              <a:rPr sz="2550" b="1">
                <a:solidFill>
                  <a:srgbClr val="087F8C"/>
                </a:solidFill>
                <a:latin typeface="Arial"/>
              </a:rPr>
              <a:t>Future work: </a:t>
            </a:r>
            <a:r>
              <a:rPr sz="2550" b="0">
                <a:solidFill>
                  <a:srgbClr val="15354B"/>
                </a:solidFill>
                <a:latin typeface="Arial"/>
              </a:rPr>
              <a:t>Expand the cohort by subject, add motion and site covariates, then build comorbidity fusion and a Bayesian ordinal head.</a:t>
            </a:r>
          </a:p>
        </p:txBody>
      </p:sp>
      <p:pic>
        <p:nvPicPr>
          <p:cNvPr id="34" name="Picture 33" descr="A blue and white logo&#10;&#10;Description automatically generated">
            <a:extLst>
              <a:ext uri="{FF2B5EF4-FFF2-40B4-BE49-F238E27FC236}">
                <a16:creationId xmlns:a16="http://schemas.microsoft.com/office/drawing/2014/main" id="{0EF0BD8F-825E-A2C0-2525-FD1B64C0E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319489"/>
            <a:ext cx="2187116" cy="1016268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2410E94-B0D4-BEC6-A47D-1F1B0E9BD3D9}"/>
              </a:ext>
            </a:extLst>
          </p:cNvPr>
          <p:cNvCxnSpPr>
            <a:cxnSpLocks/>
          </p:cNvCxnSpPr>
          <p:nvPr/>
        </p:nvCxnSpPr>
        <p:spPr>
          <a:xfrm flipV="1">
            <a:off x="619125" y="3957637"/>
            <a:ext cx="29018665" cy="1604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825398C-3094-6C2E-F51B-7E7DE07004CA}"/>
              </a:ext>
            </a:extLst>
          </p:cNvPr>
          <p:cNvSpPr>
            <a:spLocks noGrp="1"/>
          </p:cNvSpPr>
          <p:nvPr/>
        </p:nvSpPr>
        <p:spPr>
          <a:xfrm>
            <a:off x="9269830" y="17145000"/>
            <a:ext cx="10618370" cy="18288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300"/>
              </a:spcAft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8C"/>
                </a:solidFill>
                <a:latin typeface="Arial"/>
              </a:rPr>
              <a:t>Dataset Description</a:t>
            </a:r>
            <a:endParaRPr sz="2550" b="0" dirty="0">
              <a:solidFill>
                <a:srgbClr val="15354B"/>
              </a:solidFill>
              <a:latin typeface="Arial"/>
              <a:ea typeface="Arial"/>
              <a:cs typeface="Arial"/>
            </a:endParaRPr>
          </a:p>
          <a:p>
            <a:pPr>
              <a:spcAft>
                <a:spcPts val="300"/>
              </a:spcAft>
            </a:pPr>
            <a:r>
              <a:rPr sz="2550" b="0">
                <a:solidFill>
                  <a:srgbClr val="15354B"/>
                </a:solidFill>
                <a:latin typeface="Arial"/>
              </a:rPr>
              <a:t>ADNI resting-state fMRI, no T1-weighted scans: 175 raw acquisitions, 167 preprocessed (129 subjects), 116 analysed, one scan per subject.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D29E1E-0E39-FF0F-E884-F97E918FB502}"/>
              </a:ext>
            </a:extLst>
          </p:cNvPr>
          <p:cNvSpPr>
            <a:spLocks noGrp="1"/>
          </p:cNvSpPr>
          <p:nvPr/>
        </p:nvSpPr>
        <p:spPr>
          <a:xfrm>
            <a:off x="378493" y="15681959"/>
            <a:ext cx="8634162" cy="4572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>
            <a:defPPr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0"/>
              </a:spcAft>
              <a:defRPr sz="2550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575"/>
                </a:solidFill>
                <a:latin typeface="Arial"/>
              </a:rPr>
              <a:t>Foundational method papers behind this work.</a:t>
            </a:r>
          </a:p>
        </p:txBody>
      </p:sp>
      <p:sp>
        <p:nvSpPr>
          <p:cNvPr id="39" name="Row label"/>
          <p:cNvSpPr txBox="1"/>
          <p:nvPr/>
        </p:nvSpPr>
        <p:spPr>
          <a:xfrm>
            <a:off x="9454896" y="5202936"/>
            <a:ext cx="548640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700" b="1">
                <a:solidFill>
                  <a:srgbClr val="087F8C"/>
                </a:solidFill>
                <a:latin typeface="Arial"/>
              </a:rPr>
              <a:t>DATA AND PREPROCESSING</a:t>
            </a:r>
          </a:p>
        </p:txBody>
      </p:sp>
      <p:sp>
        <p:nvSpPr>
          <p:cNvPr id="40" name="Row label"/>
          <p:cNvSpPr txBox="1"/>
          <p:nvPr/>
        </p:nvSpPr>
        <p:spPr>
          <a:xfrm>
            <a:off x="9454896" y="7927848"/>
            <a:ext cx="548640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700" b="1">
                <a:solidFill>
                  <a:srgbClr val="087F8C"/>
                </a:solidFill>
                <a:latin typeface="Arial"/>
              </a:rPr>
              <a:t>FEATURES AND COHORT</a:t>
            </a:r>
          </a:p>
        </p:txBody>
      </p:sp>
      <p:sp>
        <p:nvSpPr>
          <p:cNvPr id="41" name="Row label"/>
          <p:cNvSpPr txBox="1"/>
          <p:nvPr/>
        </p:nvSpPr>
        <p:spPr>
          <a:xfrm>
            <a:off x="9454896" y="10652760"/>
            <a:ext cx="548640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700" b="1">
                <a:solidFill>
                  <a:srgbClr val="087F8C"/>
                </a:solidFill>
                <a:latin typeface="Arial"/>
              </a:rPr>
              <a:t>MODELLING</a:t>
            </a:r>
          </a:p>
        </p:txBody>
      </p:sp>
      <p:sp>
        <p:nvSpPr>
          <p:cNvPr id="42" name="Step 1"/>
          <p:cNvSpPr/>
          <p:nvPr/>
        </p:nvSpPr>
        <p:spPr>
          <a:xfrm>
            <a:off x="9454896" y="5614416"/>
            <a:ext cx="228828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4B"/>
                </a:solidFill>
                <a:latin typeface="Arial"/>
              </a:rPr>
              <a:t>1. Audit and dedup</a:t>
            </a:r>
          </a:p>
          <a:p>
            <a:pPr algn="l"/>
            <a:r>
              <a:rPr sz="1600">
                <a:solidFill>
                  <a:srgbClr val="506575"/>
                </a:solidFill>
                <a:latin typeface="Arial"/>
              </a:rPr>
              <a:t>175 raw acquisitions, 2 pre-excluded</a:t>
            </a:r>
          </a:p>
        </p:txBody>
      </p:sp>
      <p:sp>
        <p:nvSpPr>
          <p:cNvPr id="43" name="Step 2"/>
          <p:cNvSpPr/>
          <p:nvPr/>
        </p:nvSpPr>
        <p:spPr>
          <a:xfrm>
            <a:off x="12108942" y="5614416"/>
            <a:ext cx="228828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4B"/>
                </a:solidFill>
                <a:latin typeface="Arial"/>
              </a:rPr>
              <a:t>2. DICOM to BIDS</a:t>
            </a:r>
          </a:p>
          <a:p>
            <a:pPr algn="l"/>
            <a:r>
              <a:rPr sz="1600">
                <a:solidFill>
                  <a:srgbClr val="506575"/>
                </a:solidFill>
                <a:latin typeface="Arial"/>
              </a:rPr>
              <a:t>dcm2niix v1.0.20260724, BIDS layout</a:t>
            </a:r>
          </a:p>
        </p:txBody>
      </p:sp>
      <p:sp>
        <p:nvSpPr>
          <p:cNvPr id="44" name="Step 3"/>
          <p:cNvSpPr/>
          <p:nvPr/>
        </p:nvSpPr>
        <p:spPr>
          <a:xfrm>
            <a:off x="14762988" y="5614416"/>
            <a:ext cx="228828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4B"/>
                </a:solidFill>
                <a:latin typeface="Arial"/>
              </a:rPr>
              <a:t>3. Preprocessing</a:t>
            </a:r>
          </a:p>
          <a:p>
            <a:pPr algn="l"/>
            <a:r>
              <a:rPr sz="1600">
                <a:solidFill>
                  <a:srgbClr val="506575"/>
                </a:solidFill>
                <a:latin typeface="Arial"/>
              </a:rPr>
              <a:t>Motion corr., MNI 4 mm, 27 regressors, 0.01–0.10 Hz</a:t>
            </a:r>
          </a:p>
        </p:txBody>
      </p:sp>
      <p:sp>
        <p:nvSpPr>
          <p:cNvPr id="45" name="Step 4"/>
          <p:cNvSpPr/>
          <p:nvPr/>
        </p:nvSpPr>
        <p:spPr>
          <a:xfrm>
            <a:off x="17417034" y="5614416"/>
            <a:ext cx="228828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4B"/>
                </a:solidFill>
                <a:latin typeface="Arial"/>
              </a:rPr>
              <a:t>4. Quality control</a:t>
            </a:r>
          </a:p>
          <a:p>
            <a:pPr algn="l"/>
            <a:r>
              <a:rPr sz="1600">
                <a:solidFill>
                  <a:srgbClr val="506575"/>
                </a:solidFill>
                <a:latin typeface="Arial"/>
              </a:rPr>
              <a:t>167 preprocessed; 8 refused (TR 6.02 s)</a:t>
            </a:r>
          </a:p>
        </p:txBody>
      </p:sp>
      <p:sp>
        <p:nvSpPr>
          <p:cNvPr id="46" name="Step 5"/>
          <p:cNvSpPr/>
          <p:nvPr/>
        </p:nvSpPr>
        <p:spPr>
          <a:xfrm>
            <a:off x="17417034" y="8339328"/>
            <a:ext cx="228828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4B"/>
                </a:solidFill>
                <a:latin typeface="Arial"/>
              </a:rPr>
              <a:t>5. Brainnetome atlas</a:t>
            </a:r>
          </a:p>
          <a:p>
            <a:pPr algn="l"/>
            <a:r>
              <a:rPr sz="1600">
                <a:solidFill>
                  <a:srgbClr val="506575"/>
                </a:solidFill>
                <a:latin typeface="Arial"/>
              </a:rPr>
              <a:t>246 regions: 210 cortical, 36 subcortical</a:t>
            </a:r>
          </a:p>
        </p:txBody>
      </p:sp>
      <p:sp>
        <p:nvSpPr>
          <p:cNvPr id="47" name="Step 6"/>
          <p:cNvSpPr/>
          <p:nvPr/>
        </p:nvSpPr>
        <p:spPr>
          <a:xfrm>
            <a:off x="14762988" y="8339328"/>
            <a:ext cx="228828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4B"/>
                </a:solidFill>
                <a:latin typeface="Arial"/>
              </a:rPr>
              <a:t>6. Biomarkers</a:t>
            </a:r>
          </a:p>
          <a:p>
            <a:pPr algn="l"/>
            <a:r>
              <a:rPr sz="1600">
                <a:solidFill>
                  <a:srgbClr val="506575"/>
                </a:solidFill>
                <a:latin typeface="Arial"/>
              </a:rPr>
              <a:t>mALFF, mReHo, DC_z, FC (246x246 Fisher-z)</a:t>
            </a:r>
          </a:p>
        </p:txBody>
      </p:sp>
      <p:sp>
        <p:nvSpPr>
          <p:cNvPr id="48" name="Step 7"/>
          <p:cNvSpPr/>
          <p:nvPr/>
        </p:nvSpPr>
        <p:spPr>
          <a:xfrm>
            <a:off x="12108942" y="8339328"/>
            <a:ext cx="228828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4B"/>
                </a:solidFill>
                <a:latin typeface="Arial"/>
              </a:rPr>
              <a:t>7. Normalisation</a:t>
            </a:r>
          </a:p>
          <a:p>
            <a:pPr algn="l"/>
            <a:r>
              <a:rPr sz="1600">
                <a:solidFill>
                  <a:srgbClr val="506575"/>
                </a:solidFill>
                <a:latin typeface="Arial"/>
              </a:rPr>
              <a:t>Scaled within each acquisition</a:t>
            </a:r>
          </a:p>
        </p:txBody>
      </p:sp>
      <p:sp>
        <p:nvSpPr>
          <p:cNvPr id="49" name="Step 8"/>
          <p:cNvSpPr/>
          <p:nvPr/>
        </p:nvSpPr>
        <p:spPr>
          <a:xfrm>
            <a:off x="9454896" y="8339328"/>
            <a:ext cx="228828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4B"/>
                </a:solidFill>
                <a:latin typeface="Arial"/>
              </a:rPr>
              <a:t>8. Cohort split</a:t>
            </a:r>
          </a:p>
          <a:p>
            <a:pPr algn="l"/>
            <a:r>
              <a:rPr sz="1600">
                <a:solidFill>
                  <a:srgbClr val="506575"/>
                </a:solidFill>
                <a:latin typeface="Arial"/>
              </a:rPr>
              <a:t>116 subjects: 81 train pool, 35 locked test</a:t>
            </a:r>
          </a:p>
        </p:txBody>
      </p:sp>
      <p:sp>
        <p:nvSpPr>
          <p:cNvPr id="50" name="Step 9"/>
          <p:cNvSpPr/>
          <p:nvPr/>
        </p:nvSpPr>
        <p:spPr>
          <a:xfrm>
            <a:off x="9454896" y="11064240"/>
            <a:ext cx="228828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4B"/>
                </a:solidFill>
                <a:latin typeface="Arial"/>
              </a:rPr>
              <a:t>9. Feature reduction</a:t>
            </a:r>
          </a:p>
          <a:p>
            <a:pPr algn="l"/>
            <a:r>
              <a:rPr sz="1600">
                <a:solidFill>
                  <a:srgbClr val="506575"/>
                </a:solidFill>
                <a:latin typeface="Arial"/>
              </a:rPr>
              <a:t>PCA, L1, QUBO-QAOA, fitted per CV fold</a:t>
            </a:r>
          </a:p>
        </p:txBody>
      </p:sp>
      <p:sp>
        <p:nvSpPr>
          <p:cNvPr id="51" name="Step 10"/>
          <p:cNvSpPr/>
          <p:nvPr/>
        </p:nvSpPr>
        <p:spPr>
          <a:xfrm>
            <a:off x="12108942" y="11064240"/>
            <a:ext cx="228828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4B"/>
                </a:solidFill>
                <a:latin typeface="Arial"/>
              </a:rPr>
              <a:t>10. Staging model</a:t>
            </a:r>
          </a:p>
          <a:p>
            <a:pPr algn="l"/>
            <a:r>
              <a:rPr sz="1600">
                <a:solidFill>
                  <a:srgbClr val="506575"/>
                </a:solidFill>
                <a:latin typeface="Arial"/>
              </a:rPr>
              <a:t>Multi-attention transformer and MLP</a:t>
            </a:r>
          </a:p>
        </p:txBody>
      </p:sp>
      <p:sp>
        <p:nvSpPr>
          <p:cNvPr id="52" name="Step 11"/>
          <p:cNvSpPr/>
          <p:nvPr/>
        </p:nvSpPr>
        <p:spPr>
          <a:xfrm>
            <a:off x="14762988" y="11064240"/>
            <a:ext cx="228828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5065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4B"/>
                </a:solidFill>
                <a:latin typeface="Arial"/>
              </a:rPr>
              <a:t>11. Fusion + MAML</a:t>
            </a:r>
          </a:p>
          <a:p>
            <a:pPr algn="l"/>
            <a:r>
              <a:rPr sz="1600">
                <a:solidFill>
                  <a:srgbClr val="506575"/>
                </a:solidFill>
                <a:latin typeface="Arial"/>
              </a:rPr>
              <a:t>Proposed: comorbidity covariates, meta-learning</a:t>
            </a:r>
          </a:p>
        </p:txBody>
      </p:sp>
      <p:sp>
        <p:nvSpPr>
          <p:cNvPr id="53" name="Step 12"/>
          <p:cNvSpPr/>
          <p:nvPr/>
        </p:nvSpPr>
        <p:spPr>
          <a:xfrm>
            <a:off x="17417034" y="11064240"/>
            <a:ext cx="228828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5065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4B"/>
                </a:solidFill>
                <a:latin typeface="Arial"/>
              </a:rPr>
              <a:t>12. Uncertainty head</a:t>
            </a:r>
          </a:p>
          <a:p>
            <a:pPr algn="l"/>
            <a:r>
              <a:rPr sz="1600">
                <a:solidFill>
                  <a:srgbClr val="506575"/>
                </a:solidFill>
                <a:latin typeface="Arial"/>
              </a:rPr>
              <a:t>MC-dropout built; ordinal head unresolved</a:t>
            </a:r>
          </a:p>
        </p:txBody>
      </p:sp>
      <p:sp>
        <p:nvSpPr>
          <p:cNvPr id="54" name="Flow arrow"/>
          <p:cNvSpPr/>
          <p:nvPr/>
        </p:nvSpPr>
        <p:spPr>
          <a:xfrm>
            <a:off x="11761469" y="6364224"/>
            <a:ext cx="329184" cy="329184"/>
          </a:xfrm>
          <a:prstGeom prst="rightArrow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low arrow"/>
          <p:cNvSpPr/>
          <p:nvPr/>
        </p:nvSpPr>
        <p:spPr>
          <a:xfrm>
            <a:off x="14415515" y="6364224"/>
            <a:ext cx="329184" cy="329184"/>
          </a:xfrm>
          <a:prstGeom prst="rightArrow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low arrow"/>
          <p:cNvSpPr/>
          <p:nvPr/>
        </p:nvSpPr>
        <p:spPr>
          <a:xfrm>
            <a:off x="17069562" y="6364224"/>
            <a:ext cx="329184" cy="329184"/>
          </a:xfrm>
          <a:prstGeom prst="rightArrow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low arrow"/>
          <p:cNvSpPr/>
          <p:nvPr/>
        </p:nvSpPr>
        <p:spPr>
          <a:xfrm>
            <a:off x="11761469" y="9089136"/>
            <a:ext cx="329184" cy="329184"/>
          </a:xfrm>
          <a:prstGeom prst="leftArrow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low arrow"/>
          <p:cNvSpPr/>
          <p:nvPr/>
        </p:nvSpPr>
        <p:spPr>
          <a:xfrm>
            <a:off x="14415515" y="9089136"/>
            <a:ext cx="329184" cy="329184"/>
          </a:xfrm>
          <a:prstGeom prst="leftArrow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low arrow"/>
          <p:cNvSpPr/>
          <p:nvPr/>
        </p:nvSpPr>
        <p:spPr>
          <a:xfrm>
            <a:off x="17069562" y="9089136"/>
            <a:ext cx="329184" cy="329184"/>
          </a:xfrm>
          <a:prstGeom prst="leftArrow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low arrow"/>
          <p:cNvSpPr/>
          <p:nvPr/>
        </p:nvSpPr>
        <p:spPr>
          <a:xfrm>
            <a:off x="11761469" y="11814048"/>
            <a:ext cx="329184" cy="329184"/>
          </a:xfrm>
          <a:prstGeom prst="rightArrow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low arrow"/>
          <p:cNvSpPr/>
          <p:nvPr/>
        </p:nvSpPr>
        <p:spPr>
          <a:xfrm>
            <a:off x="14415515" y="11814048"/>
            <a:ext cx="329184" cy="329184"/>
          </a:xfrm>
          <a:prstGeom prst="rightArrow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low arrow"/>
          <p:cNvSpPr/>
          <p:nvPr/>
        </p:nvSpPr>
        <p:spPr>
          <a:xfrm>
            <a:off x="17069562" y="11814048"/>
            <a:ext cx="329184" cy="329184"/>
          </a:xfrm>
          <a:prstGeom prst="rightArrow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low arrow"/>
          <p:cNvSpPr/>
          <p:nvPr/>
        </p:nvSpPr>
        <p:spPr>
          <a:xfrm>
            <a:off x="18378297" y="7534656"/>
            <a:ext cx="365760" cy="384048"/>
          </a:xfrm>
          <a:prstGeom prst="downArrow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low arrow"/>
          <p:cNvSpPr/>
          <p:nvPr/>
        </p:nvSpPr>
        <p:spPr>
          <a:xfrm>
            <a:off x="10416159" y="10259568"/>
            <a:ext cx="365760" cy="384048"/>
          </a:xfrm>
          <a:prstGeom prst="downArrow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swatch"/>
          <p:cNvSpPr/>
          <p:nvPr/>
        </p:nvSpPr>
        <p:spPr>
          <a:xfrm>
            <a:off x="9454896" y="12975336"/>
            <a:ext cx="457200" cy="2743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"/>
          <p:cNvSpPr txBox="1"/>
          <p:nvPr/>
        </p:nvSpPr>
        <p:spPr>
          <a:xfrm>
            <a:off x="10049256" y="12911328"/>
            <a:ext cx="3657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506575"/>
                </a:solidFill>
                <a:latin typeface="Arial"/>
              </a:rPr>
              <a:t>Implemented and executed</a:t>
            </a:r>
          </a:p>
        </p:txBody>
      </p:sp>
      <p:sp>
        <p:nvSpPr>
          <p:cNvPr id="67" name="Legend swatch dashed"/>
          <p:cNvSpPr/>
          <p:nvPr/>
        </p:nvSpPr>
        <p:spPr>
          <a:xfrm>
            <a:off x="14118336" y="12975336"/>
            <a:ext cx="457200" cy="2743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5065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"/>
          <p:cNvSpPr txBox="1"/>
          <p:nvPr/>
        </p:nvSpPr>
        <p:spPr>
          <a:xfrm>
            <a:off x="14712696" y="12911328"/>
            <a:ext cx="4754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506575"/>
                </a:solidFill>
                <a:latin typeface="Arial"/>
              </a:rPr>
              <a:t>Proposed or unresolved</a:t>
            </a:r>
          </a:p>
        </p:txBody>
      </p:sp>
      <p:graphicFrame>
        <p:nvGraphicFramePr>
          <p:cNvPr id="69" name="Cohort table"/>
          <p:cNvGraphicFramePr>
            <a:graphicFrameLocks noGrp="1"/>
          </p:cNvGraphicFramePr>
          <p:nvPr/>
        </p:nvGraphicFramePr>
        <p:xfrm>
          <a:off x="9326880" y="18973800"/>
          <a:ext cx="10424160" cy="1133856"/>
        </p:xfrm>
        <a:graphic>
          <a:graphicData uri="http://schemas.openxmlformats.org/drawingml/2006/table">
            <a:tbl>
              <a:tblPr firstRow="0" bandRow="0"/>
              <a:tblGrid>
                <a:gridCol w="1489165"/>
                <a:gridCol w="1489165"/>
                <a:gridCol w="1489165"/>
                <a:gridCol w="1489165"/>
                <a:gridCol w="1489165"/>
                <a:gridCol w="1489165"/>
                <a:gridCol w="148917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CN</a:t>
                      </a:r>
                    </a:p>
                  </a:txBody>
                  <a:tcPr anchor="ctr">
                    <a:solidFill>
                      <a:srgbClr val="1535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SMC</a:t>
                      </a:r>
                    </a:p>
                  </a:txBody>
                  <a:tcPr anchor="ctr">
                    <a:solidFill>
                      <a:srgbClr val="1535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EMCI</a:t>
                      </a:r>
                    </a:p>
                  </a:txBody>
                  <a:tcPr anchor="ctr">
                    <a:solidFill>
                      <a:srgbClr val="1535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MCI</a:t>
                      </a:r>
                    </a:p>
                  </a:txBody>
                  <a:tcPr anchor="ctr">
                    <a:solidFill>
                      <a:srgbClr val="1535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LMCI</a:t>
                      </a:r>
                    </a:p>
                  </a:txBody>
                  <a:tcPr anchor="ctr">
                    <a:solidFill>
                      <a:srgbClr val="1535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AD</a:t>
                      </a:r>
                    </a:p>
                  </a:txBody>
                  <a:tcPr anchor="ctr">
                    <a:solidFill>
                      <a:srgbClr val="1535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>
                    <a:solidFill>
                      <a:srgbClr val="1535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5354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5354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5354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5354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5354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5354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15354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pic>
        <p:nvPicPr>
          <p:cNvPr id="70" name="P-score heatmaps" descr="pscore_poster_panel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8239" y="5166360"/>
            <a:ext cx="9235440" cy="4754880"/>
          </a:xfrm>
          <a:prstGeom prst="rect">
            <a:avLst/>
          </a:prstGeom>
        </p:spPr>
      </p:pic>
      <p:sp>
        <p:nvSpPr>
          <p:cNvPr id="71" name="P-score caption"/>
          <p:cNvSpPr txBox="1"/>
          <p:nvPr/>
        </p:nvSpPr>
        <p:spPr>
          <a:xfrm>
            <a:off x="20208239" y="9966960"/>
            <a:ext cx="9235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06575"/>
                </a:solidFill>
                <a:latin typeface="Arial"/>
              </a:rPr>
              <a:t>P-score = −log10(q). Colour is relative within each panel (blue = 0, red = top 1%), so panels are not comparable. Significance needs 1.30; the largest value is 0.93, so no cell qualifies.</a:t>
            </a:r>
          </a:p>
        </p:txBody>
      </p:sp>
      <p:graphicFrame>
        <p:nvGraphicFramePr>
          <p:cNvPr id="72" name="Accuracy chart"/>
          <p:cNvGraphicFramePr>
            <a:graphicFrameLocks noGrp="1"/>
          </p:cNvGraphicFramePr>
          <p:nvPr/>
        </p:nvGraphicFramePr>
        <p:xfrm>
          <a:off x="20162520" y="10533888"/>
          <a:ext cx="9326880" cy="2843783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73" name="Acknowledgement"/>
          <p:cNvSpPr txBox="1"/>
          <p:nvPr/>
        </p:nvSpPr>
        <p:spPr>
          <a:xfrm>
            <a:off x="621792" y="20528280"/>
            <a:ext cx="29032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06575"/>
                </a:solidFill>
                <a:latin typeface="Arial"/>
              </a:rPr>
              <a:t>Data were obtained from the Alzheimer's Disease Neuroimaging Initiative (ADNI) database (adni.loni.usc.edu). Atlas: Human Brainnetome Atlas (Fan et al., 2016).</a:t>
            </a:r>
          </a:p>
        </p:txBody>
      </p:sp>
    </p:spTree>
    <p:extLst>
      <p:ext uri="{BB962C8B-B14F-4D97-AF65-F5344CB8AC3E}">
        <p14:creationId xmlns:p14="http://schemas.microsoft.com/office/powerpoint/2010/main" val="1456542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242</Words>
  <Application>Microsoft Office PowerPoint</Application>
  <DocSecurity>0</DocSecurity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Suresh Jaganathan</cp:lastModifiedBy>
  <cp:revision>1</cp:revision>
  <dcterms:created xsi:type="dcterms:W3CDTF">2026-10-10T11:20:33Z</dcterms:created>
  <dcterms:modified xsi:type="dcterms:W3CDTF">2026-10-10T11:50:25Z</dcterms:modified>
</cp:coreProperties>
</file>